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68" y="-1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64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em_co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40" y="310050"/>
            <a:ext cx="1144652" cy="15133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93910" y="620100"/>
            <a:ext cx="3807450" cy="93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2800" b="1" dirty="0">
                <a:solidFill>
                  <a:srgbClr val="005CC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КЕМСКИЙ</a:t>
            </a:r>
            <a:endParaRPr lang="en-US" sz="2800" dirty="0"/>
          </a:p>
          <a:p>
            <a:pPr marL="0" indent="0" algn="ctr">
              <a:lnSpc>
                <a:spcPct val="82000"/>
              </a:lnSpc>
              <a:buNone/>
            </a:pPr>
            <a:r>
              <a:rPr lang="en-US" sz="2800" b="1" dirty="0">
                <a:solidFill>
                  <a:srgbClr val="005CC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МУНИЦИПАЛЬНЫЙ ОКРУГ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347088" y="1919356"/>
            <a:ext cx="2673316" cy="36911"/>
          </a:xfrm>
          <a:prstGeom prst="rect">
            <a:avLst/>
          </a:prstGeom>
          <a:solidFill>
            <a:srgbClr val="005CC8"/>
          </a:solidFill>
          <a:ln w="12700">
            <a:solidFill>
              <a:srgbClr val="005C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2"/>
          <p:cNvSpPr/>
          <p:nvPr/>
        </p:nvSpPr>
        <p:spPr>
          <a:xfrm>
            <a:off x="3057329" y="1919356"/>
            <a:ext cx="1440046" cy="36911"/>
          </a:xfrm>
          <a:prstGeom prst="rect">
            <a:avLst/>
          </a:prstGeom>
          <a:solidFill>
            <a:srgbClr val="D90912"/>
          </a:solidFill>
          <a:ln w="12700">
            <a:solidFill>
              <a:srgbClr val="D909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3"/>
          <p:cNvSpPr/>
          <p:nvPr/>
        </p:nvSpPr>
        <p:spPr>
          <a:xfrm>
            <a:off x="4534299" y="1919356"/>
            <a:ext cx="2695471" cy="36911"/>
          </a:xfrm>
          <a:prstGeom prst="rect">
            <a:avLst/>
          </a:prstGeom>
          <a:solidFill>
            <a:srgbClr val="005CC8"/>
          </a:solidFill>
          <a:ln w="12700">
            <a:solidFill>
              <a:srgbClr val="005C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1211116" y="2155584"/>
            <a:ext cx="5169396" cy="9965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4000" b="1" dirty="0">
                <a:solidFill>
                  <a:srgbClr val="D9091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ИЗБИРАТЕЛЬНЫЙ</a:t>
            </a:r>
            <a:endParaRPr lang="en-US" sz="4000" dirty="0"/>
          </a:p>
          <a:p>
            <a:pPr marL="0" indent="0" algn="ctr">
              <a:lnSpc>
                <a:spcPct val="78000"/>
              </a:lnSpc>
              <a:buNone/>
            </a:pPr>
            <a:r>
              <a:rPr lang="en-US" sz="4000" b="1" dirty="0">
                <a:solidFill>
                  <a:srgbClr val="D9091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БЮЛЛЕТЕНЬ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2215455" y="3299816"/>
            <a:ext cx="3138562" cy="22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50" b="1" dirty="0">
                <a:solidFill>
                  <a:srgbClr val="1113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для голосования на выборах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1462201" y="3713215"/>
            <a:ext cx="4637687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3360107" y="3750126"/>
            <a:ext cx="871412" cy="162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(должность)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920061" y="3971590"/>
            <a:ext cx="3729350" cy="25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1113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Совета Первых первичного отделения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1070803" y="4414519"/>
            <a:ext cx="5420481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1070803" y="4680276"/>
            <a:ext cx="5420481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/>
          <p:nvPr/>
        </p:nvSpPr>
        <p:spPr>
          <a:xfrm>
            <a:off x="2621622" y="4724568"/>
            <a:ext cx="2363152" cy="162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(наименование первичного отделения)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654207" y="4960797"/>
            <a:ext cx="4283214" cy="2288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113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Республика Карелия, Кемский муниципальный округ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178531" y="5285611"/>
            <a:ext cx="3212410" cy="214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113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«______» __________________ 20_____ г.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347088" y="5580896"/>
            <a:ext cx="6882682" cy="752978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/>
          <p:nvPr/>
        </p:nvSpPr>
        <p:spPr>
          <a:xfrm>
            <a:off x="494785" y="5676864"/>
            <a:ext cx="2917016" cy="221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80" b="1" dirty="0">
                <a:solidFill>
                  <a:srgbClr val="005CC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ПОРЯДОК ГОЛОСОВАНИЯ</a:t>
            </a:r>
            <a:endParaRPr lang="en-US" sz="1480" dirty="0"/>
          </a:p>
        </p:txBody>
      </p:sp>
      <p:sp>
        <p:nvSpPr>
          <p:cNvPr id="20" name="Text 16"/>
          <p:cNvSpPr/>
          <p:nvPr/>
        </p:nvSpPr>
        <p:spPr>
          <a:xfrm>
            <a:off x="494785" y="5920475"/>
            <a:ext cx="6350972" cy="35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3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Поставьте любой знак в квадрате справа от Ф. И. О. только одного кандидата.</a:t>
            </a:r>
            <a:endParaRPr lang="en-US" sz="113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13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Бюллетень без отметок или с отметками более чем в одном квадрате считается недействительным.</a:t>
            </a:r>
            <a:endParaRPr lang="en-US" sz="1130" dirty="0"/>
          </a:p>
        </p:txBody>
      </p:sp>
      <p:sp>
        <p:nvSpPr>
          <p:cNvPr id="21" name="Text 17"/>
          <p:cNvSpPr/>
          <p:nvPr/>
        </p:nvSpPr>
        <p:spPr>
          <a:xfrm>
            <a:off x="347088" y="6533192"/>
            <a:ext cx="369243" cy="31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50" b="1" dirty="0">
                <a:solidFill>
                  <a:srgbClr val="005CC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1.</a:t>
            </a:r>
            <a:endParaRPr lang="en-US" sz="2550" dirty="0"/>
          </a:p>
        </p:txBody>
      </p:sp>
      <p:sp>
        <p:nvSpPr>
          <p:cNvPr id="22" name="Text 18"/>
          <p:cNvSpPr/>
          <p:nvPr/>
        </p:nvSpPr>
        <p:spPr>
          <a:xfrm>
            <a:off x="834488" y="6540574"/>
            <a:ext cx="480015" cy="162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6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Ф. И. О.</a:t>
            </a:r>
            <a:endParaRPr lang="en-US" sz="960" dirty="0"/>
          </a:p>
        </p:txBody>
      </p:sp>
      <p:sp>
        <p:nvSpPr>
          <p:cNvPr id="23" name="Shape 19"/>
          <p:cNvSpPr/>
          <p:nvPr/>
        </p:nvSpPr>
        <p:spPr>
          <a:xfrm>
            <a:off x="1299734" y="6651306"/>
            <a:ext cx="5147242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834488" y="6762039"/>
            <a:ext cx="886182" cy="1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2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/ группа</a:t>
            </a:r>
            <a:endParaRPr lang="en-US" sz="920" dirty="0"/>
          </a:p>
        </p:txBody>
      </p:sp>
      <p:sp>
        <p:nvSpPr>
          <p:cNvPr id="25" name="Shape 21"/>
          <p:cNvSpPr/>
          <p:nvPr/>
        </p:nvSpPr>
        <p:spPr>
          <a:xfrm>
            <a:off x="1691131" y="6865388"/>
            <a:ext cx="2008680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2"/>
          <p:cNvSpPr/>
          <p:nvPr/>
        </p:nvSpPr>
        <p:spPr>
          <a:xfrm>
            <a:off x="6734985" y="6451989"/>
            <a:ext cx="457861" cy="487221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3"/>
          <p:cNvSpPr/>
          <p:nvPr/>
        </p:nvSpPr>
        <p:spPr>
          <a:xfrm>
            <a:off x="347088" y="7027795"/>
            <a:ext cx="6882682" cy="0"/>
          </a:xfrm>
          <a:prstGeom prst="line">
            <a:avLst/>
          </a:prstGeom>
          <a:noFill/>
          <a:ln w="10795">
            <a:solidFill>
              <a:srgbClr val="8CC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4"/>
          <p:cNvSpPr/>
          <p:nvPr/>
        </p:nvSpPr>
        <p:spPr>
          <a:xfrm>
            <a:off x="347088" y="7204967"/>
            <a:ext cx="369243" cy="31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50" b="1" dirty="0">
                <a:solidFill>
                  <a:srgbClr val="005CC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2.</a:t>
            </a:r>
            <a:endParaRPr lang="en-US" sz="2550" dirty="0"/>
          </a:p>
        </p:txBody>
      </p:sp>
      <p:sp>
        <p:nvSpPr>
          <p:cNvPr id="29" name="Text 25"/>
          <p:cNvSpPr/>
          <p:nvPr/>
        </p:nvSpPr>
        <p:spPr>
          <a:xfrm>
            <a:off x="834488" y="7212349"/>
            <a:ext cx="480015" cy="162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6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Ф. И. О.</a:t>
            </a:r>
            <a:endParaRPr lang="en-US" sz="960" dirty="0"/>
          </a:p>
        </p:txBody>
      </p:sp>
      <p:sp>
        <p:nvSpPr>
          <p:cNvPr id="30" name="Shape 26"/>
          <p:cNvSpPr/>
          <p:nvPr/>
        </p:nvSpPr>
        <p:spPr>
          <a:xfrm>
            <a:off x="1299734" y="7323081"/>
            <a:ext cx="5147242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7"/>
          <p:cNvSpPr/>
          <p:nvPr/>
        </p:nvSpPr>
        <p:spPr>
          <a:xfrm>
            <a:off x="834488" y="7433813"/>
            <a:ext cx="886182" cy="1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2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/ группа</a:t>
            </a:r>
            <a:endParaRPr lang="en-US" sz="920" dirty="0"/>
          </a:p>
        </p:txBody>
      </p:sp>
      <p:sp>
        <p:nvSpPr>
          <p:cNvPr id="32" name="Shape 28"/>
          <p:cNvSpPr/>
          <p:nvPr/>
        </p:nvSpPr>
        <p:spPr>
          <a:xfrm>
            <a:off x="1691131" y="7537163"/>
            <a:ext cx="2008680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29"/>
          <p:cNvSpPr/>
          <p:nvPr/>
        </p:nvSpPr>
        <p:spPr>
          <a:xfrm>
            <a:off x="6734985" y="7116381"/>
            <a:ext cx="457861" cy="487221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0"/>
          <p:cNvSpPr/>
          <p:nvPr/>
        </p:nvSpPr>
        <p:spPr>
          <a:xfrm>
            <a:off x="347088" y="7699570"/>
            <a:ext cx="6882682" cy="0"/>
          </a:xfrm>
          <a:prstGeom prst="line">
            <a:avLst/>
          </a:prstGeom>
          <a:noFill/>
          <a:ln w="10795">
            <a:solidFill>
              <a:srgbClr val="8CC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1"/>
          <p:cNvSpPr/>
          <p:nvPr/>
        </p:nvSpPr>
        <p:spPr>
          <a:xfrm>
            <a:off x="347088" y="7876741"/>
            <a:ext cx="369243" cy="31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50" b="1" dirty="0">
                <a:solidFill>
                  <a:srgbClr val="005CC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3.</a:t>
            </a:r>
            <a:endParaRPr lang="en-US" sz="2550" dirty="0"/>
          </a:p>
        </p:txBody>
      </p:sp>
      <p:sp>
        <p:nvSpPr>
          <p:cNvPr id="36" name="Text 32"/>
          <p:cNvSpPr/>
          <p:nvPr/>
        </p:nvSpPr>
        <p:spPr>
          <a:xfrm>
            <a:off x="834488" y="7884124"/>
            <a:ext cx="480015" cy="162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6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Ф. И. О.</a:t>
            </a:r>
            <a:endParaRPr lang="en-US" sz="960" dirty="0"/>
          </a:p>
        </p:txBody>
      </p:sp>
      <p:sp>
        <p:nvSpPr>
          <p:cNvPr id="37" name="Shape 33"/>
          <p:cNvSpPr/>
          <p:nvPr/>
        </p:nvSpPr>
        <p:spPr>
          <a:xfrm>
            <a:off x="1299734" y="7994856"/>
            <a:ext cx="5147242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4"/>
          <p:cNvSpPr/>
          <p:nvPr/>
        </p:nvSpPr>
        <p:spPr>
          <a:xfrm>
            <a:off x="834488" y="8105588"/>
            <a:ext cx="886182" cy="1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2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/ группа</a:t>
            </a:r>
            <a:endParaRPr lang="en-US" sz="920" dirty="0"/>
          </a:p>
        </p:txBody>
      </p:sp>
      <p:sp>
        <p:nvSpPr>
          <p:cNvPr id="39" name="Shape 35"/>
          <p:cNvSpPr/>
          <p:nvPr/>
        </p:nvSpPr>
        <p:spPr>
          <a:xfrm>
            <a:off x="1691131" y="8208938"/>
            <a:ext cx="2008680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36"/>
          <p:cNvSpPr/>
          <p:nvPr/>
        </p:nvSpPr>
        <p:spPr>
          <a:xfrm>
            <a:off x="6734985" y="7780774"/>
            <a:ext cx="457861" cy="487221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Shape 37"/>
          <p:cNvSpPr/>
          <p:nvPr/>
        </p:nvSpPr>
        <p:spPr>
          <a:xfrm>
            <a:off x="347088" y="8363962"/>
            <a:ext cx="6882682" cy="0"/>
          </a:xfrm>
          <a:prstGeom prst="line">
            <a:avLst/>
          </a:prstGeom>
          <a:noFill/>
          <a:ln w="10795">
            <a:solidFill>
              <a:srgbClr val="8CC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38"/>
          <p:cNvSpPr/>
          <p:nvPr/>
        </p:nvSpPr>
        <p:spPr>
          <a:xfrm>
            <a:off x="347088" y="8548516"/>
            <a:ext cx="369243" cy="31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50" b="1" dirty="0">
                <a:solidFill>
                  <a:srgbClr val="005CC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4.</a:t>
            </a:r>
            <a:endParaRPr lang="en-US" sz="2550" dirty="0"/>
          </a:p>
        </p:txBody>
      </p:sp>
      <p:sp>
        <p:nvSpPr>
          <p:cNvPr id="43" name="Text 39"/>
          <p:cNvSpPr/>
          <p:nvPr/>
        </p:nvSpPr>
        <p:spPr>
          <a:xfrm>
            <a:off x="834488" y="8555898"/>
            <a:ext cx="480015" cy="162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6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Ф. И. О.</a:t>
            </a:r>
            <a:endParaRPr lang="en-US" sz="960" dirty="0"/>
          </a:p>
        </p:txBody>
      </p:sp>
      <p:sp>
        <p:nvSpPr>
          <p:cNvPr id="44" name="Shape 40"/>
          <p:cNvSpPr/>
          <p:nvPr/>
        </p:nvSpPr>
        <p:spPr>
          <a:xfrm>
            <a:off x="1299734" y="8666630"/>
            <a:ext cx="5147242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1"/>
          <p:cNvSpPr/>
          <p:nvPr/>
        </p:nvSpPr>
        <p:spPr>
          <a:xfrm>
            <a:off x="834488" y="8777362"/>
            <a:ext cx="886182" cy="1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2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/ группа</a:t>
            </a:r>
            <a:endParaRPr lang="en-US" sz="920" dirty="0"/>
          </a:p>
        </p:txBody>
      </p:sp>
      <p:sp>
        <p:nvSpPr>
          <p:cNvPr id="46" name="Shape 42"/>
          <p:cNvSpPr/>
          <p:nvPr/>
        </p:nvSpPr>
        <p:spPr>
          <a:xfrm>
            <a:off x="1691131" y="8880712"/>
            <a:ext cx="2008680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Shape 43"/>
          <p:cNvSpPr/>
          <p:nvPr/>
        </p:nvSpPr>
        <p:spPr>
          <a:xfrm>
            <a:off x="6734985" y="8452548"/>
            <a:ext cx="457861" cy="487221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Shape 44"/>
          <p:cNvSpPr/>
          <p:nvPr/>
        </p:nvSpPr>
        <p:spPr>
          <a:xfrm>
            <a:off x="347088" y="9035737"/>
            <a:ext cx="6882682" cy="0"/>
          </a:xfrm>
          <a:prstGeom prst="line">
            <a:avLst/>
          </a:prstGeom>
          <a:noFill/>
          <a:ln w="10795">
            <a:solidFill>
              <a:srgbClr val="8CC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5"/>
          <p:cNvSpPr/>
          <p:nvPr/>
        </p:nvSpPr>
        <p:spPr>
          <a:xfrm>
            <a:off x="347088" y="9212908"/>
            <a:ext cx="369243" cy="31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50" b="1" dirty="0">
                <a:solidFill>
                  <a:srgbClr val="005CC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5.</a:t>
            </a:r>
            <a:endParaRPr lang="en-US" sz="2550" dirty="0"/>
          </a:p>
        </p:txBody>
      </p:sp>
      <p:sp>
        <p:nvSpPr>
          <p:cNvPr id="50" name="Text 46"/>
          <p:cNvSpPr/>
          <p:nvPr/>
        </p:nvSpPr>
        <p:spPr>
          <a:xfrm>
            <a:off x="834488" y="9220291"/>
            <a:ext cx="480015" cy="162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6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Ф. И. О.</a:t>
            </a:r>
            <a:endParaRPr lang="en-US" sz="960" dirty="0"/>
          </a:p>
        </p:txBody>
      </p:sp>
      <p:sp>
        <p:nvSpPr>
          <p:cNvPr id="51" name="Shape 47"/>
          <p:cNvSpPr/>
          <p:nvPr/>
        </p:nvSpPr>
        <p:spPr>
          <a:xfrm>
            <a:off x="1299734" y="9331023"/>
            <a:ext cx="5147242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48"/>
          <p:cNvSpPr/>
          <p:nvPr/>
        </p:nvSpPr>
        <p:spPr>
          <a:xfrm>
            <a:off x="834488" y="9441755"/>
            <a:ext cx="886182" cy="1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2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 / группа</a:t>
            </a:r>
            <a:endParaRPr lang="en-US" sz="920" dirty="0"/>
          </a:p>
        </p:txBody>
      </p:sp>
      <p:sp>
        <p:nvSpPr>
          <p:cNvPr id="53" name="Shape 49"/>
          <p:cNvSpPr/>
          <p:nvPr/>
        </p:nvSpPr>
        <p:spPr>
          <a:xfrm>
            <a:off x="1691131" y="9545105"/>
            <a:ext cx="2008680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Shape 50"/>
          <p:cNvSpPr/>
          <p:nvPr/>
        </p:nvSpPr>
        <p:spPr>
          <a:xfrm>
            <a:off x="6734985" y="9124323"/>
            <a:ext cx="457861" cy="487221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5" name="Text 51"/>
          <p:cNvSpPr/>
          <p:nvPr/>
        </p:nvSpPr>
        <p:spPr>
          <a:xfrm>
            <a:off x="2156377" y="9877301"/>
            <a:ext cx="3397032" cy="177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Фамилии кандидатов вносятся в алфавитном порядке.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347088" y="10202115"/>
            <a:ext cx="2673316" cy="36911"/>
          </a:xfrm>
          <a:prstGeom prst="rect">
            <a:avLst/>
          </a:prstGeom>
          <a:solidFill>
            <a:srgbClr val="005CC8"/>
          </a:solidFill>
          <a:ln w="12700">
            <a:solidFill>
              <a:srgbClr val="005C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Shape 53"/>
          <p:cNvSpPr/>
          <p:nvPr/>
        </p:nvSpPr>
        <p:spPr>
          <a:xfrm>
            <a:off x="3057329" y="10202115"/>
            <a:ext cx="1440046" cy="36911"/>
          </a:xfrm>
          <a:prstGeom prst="rect">
            <a:avLst/>
          </a:prstGeom>
          <a:solidFill>
            <a:srgbClr val="D90912"/>
          </a:solidFill>
          <a:ln w="12700">
            <a:solidFill>
              <a:srgbClr val="D909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Shape 54"/>
          <p:cNvSpPr/>
          <p:nvPr/>
        </p:nvSpPr>
        <p:spPr>
          <a:xfrm>
            <a:off x="4534299" y="10202115"/>
            <a:ext cx="2695471" cy="36911"/>
          </a:xfrm>
          <a:prstGeom prst="rect">
            <a:avLst/>
          </a:prstGeom>
          <a:solidFill>
            <a:srgbClr val="005CC8"/>
          </a:solidFill>
          <a:ln w="12700">
            <a:solidFill>
              <a:srgbClr val="005C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9" name="Text 55"/>
          <p:cNvSpPr/>
          <p:nvPr/>
        </p:nvSpPr>
        <p:spPr>
          <a:xfrm>
            <a:off x="2259765" y="10394050"/>
            <a:ext cx="3101638" cy="20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20" dirty="0">
                <a:solidFill>
                  <a:srgbClr val="1113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Движение Первых · Кемский муниципальный округ</a:t>
            </a:r>
            <a:endParaRPr lang="en-US" sz="920" dirty="0"/>
          </a:p>
        </p:txBody>
      </p: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E7B45FA4-BBFA-6EF2-AEA4-5C969D2B9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161" y="-8512"/>
            <a:ext cx="1455153" cy="2001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</Words>
  <Application>Microsoft Office PowerPoint</Application>
  <PresentationFormat>Произвольный</PresentationFormat>
  <Paragraphs>31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Inter</vt:lpstr>
      <vt:lpstr>Inter Display</vt:lpstr>
      <vt:lpstr>Office Theme</vt:lpstr>
      <vt:lpstr>Презентация PowerPoint</vt:lpstr>
    </vt:vector>
  </TitlesOfParts>
  <Company>Движение Первых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Избирательный бюллетень — Кемский муниципальный округ</dc:title>
  <dc:subject>Избирательный бюллетень</dc:subject>
  <dc:creator>OpenAI</dc:creator>
  <cp:lastModifiedBy>k8953</cp:lastModifiedBy>
  <cp:revision>2</cp:revision>
  <dcterms:created xsi:type="dcterms:W3CDTF">2026-09-21T14:35:48Z</dcterms:created>
  <dcterms:modified xsi:type="dcterms:W3CDTF">2026-09-21T14:43:26Z</dcterms:modified>
</cp:coreProperties>
</file>